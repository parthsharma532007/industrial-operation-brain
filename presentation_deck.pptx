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4000" b="1">
                <a:solidFill>
                  <a:srgbClr val="00D8FF"/>
                </a:solidFill>
                <a:latin typeface="Helvetica"/>
              </a:defRPr>
            </a:pPr>
            <a:r>
              <a:t>UNIFIED ASSET &amp; OPERATIONS BRAIN</a:t>
            </a:r>
          </a:p>
          <a:p>
            <a:pPr>
              <a:spcAft>
                <a:spcPts val="2500"/>
              </a:spcAft>
              <a:defRPr sz="2000">
                <a:solidFill>
                  <a:srgbClr val="FFFFFF"/>
                </a:solidFill>
                <a:latin typeface="Helvetica"/>
              </a:defRPr>
            </a:pPr>
            <a:r>
              <a:t>AI-Powered Industrial Knowledge Engineering Platform</a:t>
            </a:r>
          </a:p>
          <a:p>
            <a:pPr>
              <a:defRPr sz="1400">
                <a:solidFill>
                  <a:srgbClr val="9CA3AF"/>
                </a:solidFill>
                <a:latin typeface="Helvetica"/>
              </a:defRPr>
            </a:pPr>
            <a:r>
              <a:t>Solving information fragmentation and tribal knowledge loss in heavy asset industries.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8FF"/>
                </a:solidFill>
                <a:latin typeface="Helvetica"/>
              </a:defRPr>
            </a:pPr>
            <a:r>
              <a:t>The Industrial Knowledge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9100"/>
                </a:solidFill>
                <a:latin typeface="Helvetica"/>
              </a:defRPr>
            </a:pPr>
            <a:r>
              <a:t>35%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Working Hours Lost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Engineers spend over a third of their shift searching for historical manuals, LOTO logs, and drawings across disconnected legacy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9100"/>
                </a:solidFill>
                <a:latin typeface="Helvetica"/>
              </a:defRPr>
            </a:pPr>
            <a:r>
              <a:t>7 to 12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Isolated Silos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Drawings, operating procedures, work histories, and regulatory safety guidelines are completely isolated from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9100"/>
                </a:solidFill>
                <a:latin typeface="Helvetica"/>
              </a:defRPr>
            </a:pPr>
            <a:r>
              <a:t>18%-22%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Unplanned Downtime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Plants face prolonged outages and heavy costs because field technicians lack instant equipment repair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8FF"/>
                </a:solidFill>
                <a:latin typeface="Helvetica"/>
              </a:defRPr>
            </a:pPr>
            <a:r>
              <a:t>Unified Operations Brain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E676"/>
                </a:solidFill>
                <a:latin typeface="Helvetica"/>
              </a:defRPr>
            </a:pPr>
            <a:r>
              <a:t>1. Universal OCR Ingestion</a:t>
            </a:r>
          </a:p>
          <a:p>
            <a:pPr>
              <a:defRPr sz="1300">
                <a:solidFill>
                  <a:srgbClr val="9CA3AF"/>
                </a:solidFill>
                <a:latin typeface="Helvetica"/>
              </a:defRPr>
            </a:pPr>
            <a:r>
              <a:t>Ingests unstructured manuals and drawings, extracting equipment tags (e.g. V-202) and process limit variables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E676"/>
                </a:solidFill>
                <a:latin typeface="Helvetica"/>
              </a:defRPr>
            </a:pPr>
            <a:r>
              <a:t>2. Ontology &amp; Knowledge Graph</a:t>
            </a:r>
          </a:p>
          <a:p>
            <a:pPr>
              <a:defRPr sz="1300">
                <a:solidFill>
                  <a:srgbClr val="9CA3AF"/>
                </a:solidFill>
                <a:latin typeface="Helvetica"/>
              </a:defRPr>
            </a:pPr>
            <a:r>
              <a:t>Dynamically links manuals, safety regulations, historical logs, and target assets in an interactive 2D physics graph layout.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E676"/>
                </a:solidFill>
                <a:latin typeface="Helvetica"/>
              </a:defRPr>
            </a:pPr>
            <a:r>
              <a:t>3. Expert RAG Copilot</a:t>
            </a:r>
          </a:p>
          <a:p>
            <a:pPr>
              <a:defRPr sz="1300">
                <a:solidFill>
                  <a:srgbClr val="9CA3AF"/>
                </a:solidFill>
                <a:latin typeface="Helvetica"/>
              </a:defRPr>
            </a:pPr>
            <a:r>
              <a:t>Answers complex engineering queries, utilizing both vector terms and graph node contexts with exact clickable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E676"/>
                </a:solidFill>
                <a:latin typeface="Helvetica"/>
              </a:defRPr>
            </a:pPr>
            <a:r>
              <a:t>4. RCA &amp; Compliance Hub</a:t>
            </a:r>
          </a:p>
          <a:p>
            <a:pPr>
              <a:defRPr sz="1300">
                <a:solidFill>
                  <a:srgbClr val="9CA3AF"/>
                </a:solidFill>
                <a:latin typeface="Helvetica"/>
              </a:defRPr>
            </a:pPr>
            <a:r>
              <a:t>Performs quick causal analyses matching plant anomalies to FMEA risk tables and auto-compiles PESO audit package JSON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8FF"/>
                </a:solidFill>
                <a:latin typeface="Helvetica"/>
              </a:defRPr>
            </a:pPr>
            <a:r>
              <a:t>Under the Hood: MVC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0D8FF"/>
                </a:solidFill>
                <a:latin typeface="Helvetica"/>
              </a:defRPr>
            </a:pPr>
            <a:r>
              <a:t>View Layer (SPA UI)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Carbon Dark Glassmorphic Design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Responsive Layout &amp; Tabs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Custom Canvas 2D Force-Directed Graph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Interactive Citation Overlays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F9100"/>
                </a:solidFill>
                <a:latin typeface="Helvetica"/>
              </a:defRPr>
            </a:pPr>
            <a:r>
              <a:t>Controller Layer (APIs)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Express Ingestion Pipelines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RAG Copilot Context Query router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Maintenance &amp; RCA event generator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PESO Compliance evidence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0E676"/>
                </a:solidFill>
                <a:latin typeface="Helvetica"/>
              </a:defRPr>
            </a:pPr>
            <a:r>
              <a:t>Model Layer (Ontology &amp; Data)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Rule-based NLP regex parsing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Knowledge Graph nodes &amp; link states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In-Memory database configurations</a:t>
            </a:r>
          </a:p>
          <a:p>
            <a:pPr>
              <a:spcAft>
                <a:spcPts val="800"/>
              </a:spcAft>
              <a:defRPr sz="1300">
                <a:solidFill>
                  <a:srgbClr val="9CA3AF"/>
                </a:solidFill>
                <a:latin typeface="Helvetica"/>
              </a:defRPr>
            </a:pPr>
            <a:r>
              <a:t>• Verifiable audit package payload signer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8FF"/>
                </a:solidFill>
                <a:latin typeface="Helvetica"/>
              </a:defRPr>
            </a:pPr>
            <a:r>
              <a:t>Measurable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0E676"/>
                </a:solidFill>
                <a:latin typeface="Helvetica"/>
              </a:defRPr>
            </a:pPr>
            <a:r>
              <a:t>~20%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MTTR Reduction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Providing instant historical failure and calibration data to engineers during breakdowns minimizes mean-time-to-repair.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0E676"/>
                </a:solidFill>
                <a:latin typeface="Helvetica"/>
              </a:defRPr>
            </a:pPr>
            <a:r>
              <a:t>100%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Digital Audits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Compiling verified inspection packages against Factory Acts and PESO codes reduces regulatory penalties and tracking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0E676"/>
                </a:solidFill>
                <a:latin typeface="Helvetica"/>
              </a:defRPr>
            </a:pPr>
            <a:r>
              <a:t>Zero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Tribal Knowledge Loss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Ingesting retired operators' daily diaries and checklists ensures operational intelligence is preserved forever.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8FF"/>
                </a:solidFill>
                <a:latin typeface="Helvetica"/>
              </a:defRPr>
            </a:pPr>
            <a:r>
              <a:t>The Roadmap to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100"/>
                </a:solidFill>
                <a:latin typeface="Helvetica"/>
              </a:defRPr>
            </a:pPr>
            <a:r>
              <a:t>Phase 01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Computer Vision Blueprints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Integrate vision models to parse scanned isometric sketches and piping diagram sheets, plotting instrumentation nodes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100"/>
                </a:solidFill>
                <a:latin typeface="Helvetica"/>
              </a:defRPr>
            </a:pPr>
            <a:r>
              <a:t>Phase 02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Live IoT Feed Bindings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Link active telemetry feeds (e.g. vibration sensors) to Graph Assets, creating tickets instantly when limits are violated.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100"/>
                </a:solidFill>
                <a:latin typeface="Helvetica"/>
              </a:defRPr>
            </a:pPr>
            <a:r>
              <a:t>Phase 03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Technician AR Voice Overlay</a:t>
            </a:r>
          </a:p>
          <a:p>
            <a:pPr>
              <a:defRPr sz="1200">
                <a:solidFill>
                  <a:srgbClr val="9CA3AF"/>
                </a:solidFill>
                <a:latin typeface="Helvetica"/>
              </a:defRPr>
            </a:pPr>
            <a:r>
              <a:t>Deploy the Copilot as a voice-controlled AR client, showing isolation guidelines on technician HUDs during field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